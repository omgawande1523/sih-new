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308" r:id="rId2"/>
    <p:sldId id="309" r:id="rId3"/>
    <p:sldId id="310" r:id="rId4"/>
    <p:sldId id="311" r:id="rId5"/>
    <p:sldId id="312" r:id="rId6"/>
    <p:sldId id="313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659A1-F6DD-423C-8596-258A814C56A8}" v="4" dt="2026-09-28T00:48:13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Gawande" userId="56e72ecb2b5f7fe2" providerId="LiveId" clId="{82F5D479-EAAE-46F0-8CFF-DA805F2E5235}"/>
    <pc:docChg chg="custSel addSld delSld modSld">
      <pc:chgData name="Om Gawande" userId="56e72ecb2b5f7fe2" providerId="LiveId" clId="{82F5D479-EAAE-46F0-8CFF-DA805F2E5235}" dt="2026-09-28T00:51:34.403" v="271"/>
      <pc:docMkLst>
        <pc:docMk/>
      </pc:docMkLst>
      <pc:sldChg chg="del">
        <pc:chgData name="Om Gawande" userId="56e72ecb2b5f7fe2" providerId="LiveId" clId="{82F5D479-EAAE-46F0-8CFF-DA805F2E5235}" dt="2026-09-28T00:45:18.971" v="3"/>
        <pc:sldMkLst>
          <pc:docMk/>
          <pc:sldMk cId="0" sldId="281"/>
        </pc:sldMkLst>
      </pc:sldChg>
      <pc:sldChg chg="del">
        <pc:chgData name="Om Gawande" userId="56e72ecb2b5f7fe2" providerId="LiveId" clId="{82F5D479-EAAE-46F0-8CFF-DA805F2E5235}" dt="2026-09-28T00:46:35.292" v="8"/>
        <pc:sldMkLst>
          <pc:docMk/>
          <pc:sldMk cId="0" sldId="290"/>
        </pc:sldMkLst>
      </pc:sldChg>
      <pc:sldChg chg="del">
        <pc:chgData name="Om Gawande" userId="56e72ecb2b5f7fe2" providerId="LiveId" clId="{82F5D479-EAAE-46F0-8CFF-DA805F2E5235}" dt="2026-09-28T00:44:40.271" v="1"/>
        <pc:sldMkLst>
          <pc:docMk/>
          <pc:sldMk cId="0" sldId="291"/>
        </pc:sldMkLst>
      </pc:sldChg>
      <pc:sldChg chg="del">
        <pc:chgData name="Om Gawande" userId="56e72ecb2b5f7fe2" providerId="LiveId" clId="{82F5D479-EAAE-46F0-8CFF-DA805F2E5235}" dt="2026-09-28T00:48:08.525" v="18"/>
        <pc:sldMkLst>
          <pc:docMk/>
          <pc:sldMk cId="3753387913" sldId="293"/>
        </pc:sldMkLst>
      </pc:sldChg>
      <pc:sldChg chg="del">
        <pc:chgData name="Om Gawande" userId="56e72ecb2b5f7fe2" providerId="LiveId" clId="{82F5D479-EAAE-46F0-8CFF-DA805F2E5235}" dt="2026-09-28T00:50:02.272" v="261"/>
        <pc:sldMkLst>
          <pc:docMk/>
          <pc:sldMk cId="2997144140" sldId="294"/>
        </pc:sldMkLst>
      </pc:sldChg>
      <pc:sldChg chg="del">
        <pc:chgData name="Om Gawande" userId="56e72ecb2b5f7fe2" providerId="LiveId" clId="{82F5D479-EAAE-46F0-8CFF-DA805F2E5235}" dt="2026-09-28T00:51:34.403" v="271"/>
        <pc:sldMkLst>
          <pc:docMk/>
          <pc:sldMk cId="3916788613" sldId="296"/>
        </pc:sldMkLst>
      </pc:sldChg>
      <pc:sldChg chg="add">
        <pc:chgData name="Om Gawande" userId="56e72ecb2b5f7fe2" providerId="LiveId" clId="{82F5D479-EAAE-46F0-8CFF-DA805F2E5235}" dt="2026-09-28T00:44:40.251" v="0"/>
        <pc:sldMkLst>
          <pc:docMk/>
          <pc:sldMk cId="1199858679" sldId="298"/>
        </pc:sldMkLst>
      </pc:sldChg>
      <pc:sldChg chg="addSp modSp add del">
        <pc:chgData name="Om Gawande" userId="56e72ecb2b5f7fe2" providerId="LiveId" clId="{82F5D479-EAAE-46F0-8CFF-DA805F2E5235}" dt="2026-09-28T00:45:57.282" v="6"/>
        <pc:sldMkLst>
          <pc:docMk/>
          <pc:sldMk cId="3812643876" sldId="299"/>
        </pc:sldMkLst>
        <pc:picChg chg="add mod">
          <ac:chgData name="Om Gawande" userId="56e72ecb2b5f7fe2" providerId="LiveId" clId="{82F5D479-EAAE-46F0-8CFF-DA805F2E5235}" dt="2026-09-28T00:45:24.341" v="4"/>
          <ac:picMkLst>
            <pc:docMk/>
            <pc:sldMk cId="3812643876" sldId="299"/>
            <ac:picMk id="2" creationId="{62BA9714-DC22-E141-C9D5-64DA5A016F88}"/>
          </ac:picMkLst>
        </pc:picChg>
      </pc:sldChg>
      <pc:sldChg chg="add">
        <pc:chgData name="Om Gawande" userId="56e72ecb2b5f7fe2" providerId="LiveId" clId="{82F5D479-EAAE-46F0-8CFF-DA805F2E5235}" dt="2026-09-28T00:45:57.271" v="5"/>
        <pc:sldMkLst>
          <pc:docMk/>
          <pc:sldMk cId="3073222555" sldId="300"/>
        </pc:sldMkLst>
      </pc:sldChg>
      <pc:sldChg chg="addSp modSp add del">
        <pc:chgData name="Om Gawande" userId="56e72ecb2b5f7fe2" providerId="LiveId" clId="{82F5D479-EAAE-46F0-8CFF-DA805F2E5235}" dt="2026-09-28T00:47:10.292" v="11"/>
        <pc:sldMkLst>
          <pc:docMk/>
          <pc:sldMk cId="3550745228" sldId="301"/>
        </pc:sldMkLst>
        <pc:picChg chg="add mod">
          <ac:chgData name="Om Gawande" userId="56e72ecb2b5f7fe2" providerId="LiveId" clId="{82F5D479-EAAE-46F0-8CFF-DA805F2E5235}" dt="2026-09-28T00:46:40.824" v="9"/>
          <ac:picMkLst>
            <pc:docMk/>
            <pc:sldMk cId="3550745228" sldId="301"/>
            <ac:picMk id="2" creationId="{ECBE1125-4EE7-DF7C-7F3A-E18338780C0A}"/>
          </ac:picMkLst>
        </pc:picChg>
      </pc:sldChg>
      <pc:sldChg chg="modSp add mod">
        <pc:chgData name="Om Gawande" userId="56e72ecb2b5f7fe2" providerId="LiveId" clId="{82F5D479-EAAE-46F0-8CFF-DA805F2E5235}" dt="2026-09-28T00:47:38.959" v="16"/>
        <pc:sldMkLst>
          <pc:docMk/>
          <pc:sldMk cId="3128892743" sldId="302"/>
        </pc:sldMkLst>
        <pc:spChg chg="mod">
          <ac:chgData name="Om Gawande" userId="56e72ecb2b5f7fe2" providerId="LiveId" clId="{82F5D479-EAAE-46F0-8CFF-DA805F2E5235}" dt="2026-09-28T00:47:38.959" v="16"/>
          <ac:spMkLst>
            <pc:docMk/>
            <pc:sldMk cId="3128892743" sldId="302"/>
            <ac:spMk id="201" creationId="{00000000-0000-0000-0000-000000000000}"/>
          </ac:spMkLst>
        </pc:spChg>
        <pc:picChg chg="mod">
          <ac:chgData name="Om Gawande" userId="56e72ecb2b5f7fe2" providerId="LiveId" clId="{82F5D479-EAAE-46F0-8CFF-DA805F2E5235}" dt="2026-09-28T00:47:38.959" v="15"/>
          <ac:picMkLst>
            <pc:docMk/>
            <pc:sldMk cId="3128892743" sldId="302"/>
            <ac:picMk id="2" creationId="{ECBE1125-4EE7-DF7C-7F3A-E18338780C0A}"/>
          </ac:picMkLst>
        </pc:picChg>
      </pc:sldChg>
      <pc:sldChg chg="addSp modSp add del mod">
        <pc:chgData name="Om Gawande" userId="56e72ecb2b5f7fe2" providerId="LiveId" clId="{82F5D479-EAAE-46F0-8CFF-DA805F2E5235}" dt="2026-09-28T00:48:50.579" v="194"/>
        <pc:sldMkLst>
          <pc:docMk/>
          <pc:sldMk cId="2050633301" sldId="303"/>
        </pc:sldMkLst>
        <pc:graphicFrameChg chg="add modGraphic">
          <ac:chgData name="Om Gawande" userId="56e72ecb2b5f7fe2" providerId="LiveId" clId="{82F5D479-EAAE-46F0-8CFF-DA805F2E5235}" dt="2026-09-28T00:48:23.509" v="192"/>
          <ac:graphicFrameMkLst>
            <pc:docMk/>
            <pc:sldMk cId="2050633301" sldId="303"/>
            <ac:graphicFrameMk id="4" creationId="{826AAC00-12AD-40DC-B8B2-70DFE25F9F24}"/>
          </ac:graphicFrameMkLst>
        </pc:graphicFrameChg>
        <pc:picChg chg="add mod">
          <ac:chgData name="Om Gawande" userId="56e72ecb2b5f7fe2" providerId="LiveId" clId="{82F5D479-EAAE-46F0-8CFF-DA805F2E5235}" dt="2026-09-28T00:48:13.854" v="19"/>
          <ac:picMkLst>
            <pc:docMk/>
            <pc:sldMk cId="2050633301" sldId="303"/>
            <ac:picMk id="2" creationId="{D62E8635-CD57-9E9D-1BAD-8EEF4E19D63A}"/>
          </ac:picMkLst>
        </pc:picChg>
      </pc:sldChg>
      <pc:sldChg chg="modSp add mod">
        <pc:chgData name="Om Gawande" userId="56e72ecb2b5f7fe2" providerId="LiveId" clId="{82F5D479-EAAE-46F0-8CFF-DA805F2E5235}" dt="2026-09-28T00:49:33.102" v="259"/>
        <pc:sldMkLst>
          <pc:docMk/>
          <pc:sldMk cId="3987146963" sldId="304"/>
        </pc:sldMkLst>
        <pc:graphicFrameChg chg="mod modGraphic">
          <ac:chgData name="Om Gawande" userId="56e72ecb2b5f7fe2" providerId="LiveId" clId="{82F5D479-EAAE-46F0-8CFF-DA805F2E5235}" dt="2026-09-28T00:49:33.102" v="259"/>
          <ac:graphicFrameMkLst>
            <pc:docMk/>
            <pc:sldMk cId="3987146963" sldId="304"/>
            <ac:graphicFrameMk id="4" creationId="{826AAC00-12AD-40DC-B8B2-70DFE25F9F24}"/>
          </ac:graphicFrameMkLst>
        </pc:graphicFrameChg>
        <pc:picChg chg="mod">
          <ac:chgData name="Om Gawande" userId="56e72ecb2b5f7fe2" providerId="LiveId" clId="{82F5D479-EAAE-46F0-8CFF-DA805F2E5235}" dt="2026-09-28T00:48:56.102" v="198"/>
          <ac:picMkLst>
            <pc:docMk/>
            <pc:sldMk cId="3987146963" sldId="304"/>
            <ac:picMk id="2" creationId="{D62E8635-CD57-9E9D-1BAD-8EEF4E19D63A}"/>
          </ac:picMkLst>
        </pc:picChg>
      </pc:sldChg>
      <pc:sldChg chg="add del">
        <pc:chgData name="Om Gawande" userId="56e72ecb2b5f7fe2" providerId="LiveId" clId="{82F5D479-EAAE-46F0-8CFF-DA805F2E5235}" dt="2026-09-28T00:50:27.500" v="263"/>
        <pc:sldMkLst>
          <pc:docMk/>
          <pc:sldMk cId="706997730" sldId="305"/>
        </pc:sldMkLst>
      </pc:sldChg>
      <pc:sldChg chg="modSp add mod">
        <pc:chgData name="Om Gawande" userId="56e72ecb2b5f7fe2" providerId="LiveId" clId="{82F5D479-EAAE-46F0-8CFF-DA805F2E5235}" dt="2026-09-28T00:50:49.211" v="269"/>
        <pc:sldMkLst>
          <pc:docMk/>
          <pc:sldMk cId="3648856400" sldId="306"/>
        </pc:sldMkLst>
        <pc:spChg chg="mod">
          <ac:chgData name="Om Gawande" userId="56e72ecb2b5f7fe2" providerId="LiveId" clId="{82F5D479-EAAE-46F0-8CFF-DA805F2E5235}" dt="2026-09-28T00:50:49.207" v="265"/>
          <ac:spMkLst>
            <pc:docMk/>
            <pc:sldMk cId="3648856400" sldId="306"/>
            <ac:spMk id="200" creationId="{00000000-0000-0000-0000-000000000000}"/>
          </ac:spMkLst>
        </pc:spChg>
        <pc:spChg chg="mod">
          <ac:chgData name="Om Gawande" userId="56e72ecb2b5f7fe2" providerId="LiveId" clId="{82F5D479-EAAE-46F0-8CFF-DA805F2E5235}" dt="2026-09-28T00:50:49.207" v="266"/>
          <ac:spMkLst>
            <pc:docMk/>
            <pc:sldMk cId="3648856400" sldId="306"/>
            <ac:spMk id="201" creationId="{00000000-0000-0000-0000-000000000000}"/>
          </ac:spMkLst>
        </pc:spChg>
        <pc:spChg chg="mod">
          <ac:chgData name="Om Gawande" userId="56e72ecb2b5f7fe2" providerId="LiveId" clId="{82F5D479-EAAE-46F0-8CFF-DA805F2E5235}" dt="2026-09-28T00:50:49.207" v="267"/>
          <ac:spMkLst>
            <pc:docMk/>
            <pc:sldMk cId="3648856400" sldId="306"/>
            <ac:spMk id="202" creationId="{00000000-0000-0000-0000-000000000000}"/>
          </ac:spMkLst>
        </pc:spChg>
        <pc:spChg chg="mod">
          <ac:chgData name="Om Gawande" userId="56e72ecb2b5f7fe2" providerId="LiveId" clId="{82F5D479-EAAE-46F0-8CFF-DA805F2E5235}" dt="2026-09-28T00:50:49.211" v="268"/>
          <ac:spMkLst>
            <pc:docMk/>
            <pc:sldMk cId="3648856400" sldId="306"/>
            <ac:spMk id="203" creationId="{00000000-0000-0000-0000-000000000000}"/>
          </ac:spMkLst>
        </pc:spChg>
        <pc:spChg chg="mod">
          <ac:chgData name="Om Gawande" userId="56e72ecb2b5f7fe2" providerId="LiveId" clId="{82F5D479-EAAE-46F0-8CFF-DA805F2E5235}" dt="2026-09-28T00:50:49.211" v="269"/>
          <ac:spMkLst>
            <pc:docMk/>
            <pc:sldMk cId="3648856400" sldId="306"/>
            <ac:spMk id="204" creationId="{00000000-0000-0000-0000-000000000000}"/>
          </ac:spMkLst>
        </pc:spChg>
        <pc:spChg chg="mod">
          <ac:chgData name="Om Gawande" userId="56e72ecb2b5f7fe2" providerId="LiveId" clId="{82F5D479-EAAE-46F0-8CFF-DA805F2E5235}" dt="2026-09-28T00:50:49.207" v="264"/>
          <ac:spMkLst>
            <pc:docMk/>
            <pc:sldMk cId="3648856400" sldId="306"/>
            <ac:spMk id="17410" creationId="{00000000-0000-0000-0000-000000000000}"/>
          </ac:spMkLst>
        </pc:spChg>
      </pc:sldChg>
      <pc:sldChg chg="add">
        <pc:chgData name="Om Gawande" userId="56e72ecb2b5f7fe2" providerId="LiveId" clId="{82F5D479-EAAE-46F0-8CFF-DA805F2E5235}" dt="2026-09-28T00:51:34.395" v="270"/>
        <pc:sldMkLst>
          <pc:docMk/>
          <pc:sldMk cId="1561356886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Details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AI-Driven Spatio-Temporal Tracking of Extreme Weather Anomalies in Medium-Range Forecasts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Theme: 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 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 Stealth Choppers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8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78000" y="50800"/>
            <a:ext cx="7874000" cy="10922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Spatio-Temporal Tracking of Extreme Weather Anomalies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06400" y="1168400"/>
            <a:ext cx="5969000" cy="4834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4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Proposed Solution: two-stage hybrid AI pipeline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Stage 1 –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EFI against a 30-yr ERA5 climate +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icosahedral-mesh GNN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give P(extreme) for rain, wind and heat from a 50-member, 0–10 day ensemble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Tracker –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draws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4D bounding boxes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around each moving anomaly across 6-hourly leads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Stage 2 –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physics-informed diffusion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downscales the worst anomaly into low / moderate / severe alerts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within 5 km</a:t>
            </a:r>
          </a:p>
          <a:p>
            <a:pPr marL="342900" indent="-342900">
              <a:spcBef>
                <a:spcPts val="14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Replaces manual scanning of 50 members × 40 leads with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one tracked, calibrated product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Held-out Cyclone Amphan tracked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5.5 days ahead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; landfall alert core over south Bengal</a:t>
            </a:r>
          </a:p>
          <a:p>
            <a:pPr marL="342900" indent="-342900">
              <a:spcBef>
                <a:spcPts val="14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Innovation and uniqueness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Mesh GNN beats raw EFI on heavy rain (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AUC 0.955 vs 0.896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Diffusion keeps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98% of peak rain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vs 84% for MSE U-Net; water conserved within 4%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Stealth Choppers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" name="TextBox 201"/>
          <p:cNvSpPr txBox="1"/>
          <p:nvPr/>
        </p:nvSpPr>
        <p:spPr>
          <a:xfrm>
            <a:off x="6477000" y="4470400"/>
            <a:ext cx="5461000" cy="508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n-US" sz="1100" b="1" i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Prototype output, Cyclone Amphan (ECMWF 50-member ensemble, init 15 May 2020): EFI (top) and GNN P(extreme) with tracked boxes (bottom)</a:t>
            </a:r>
          </a:p>
        </p:txBody>
      </p:sp>
      <p:sp>
        <p:nvSpPr>
          <p:cNvPr id="201" name="TextBox 202"/>
          <p:cNvSpPr txBox="1"/>
          <p:nvPr/>
        </p:nvSpPr>
        <p:spPr>
          <a:xfrm>
            <a:off x="6477000" y="5143500"/>
            <a:ext cx="1778000" cy="1016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5.5 days</a:t>
            </a:r>
          </a:p>
          <a:p>
            <a:pPr algn="ctr"/>
            <a:r>
              <a:rPr lang="en-US" sz="12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lead time on Amphan</a:t>
            </a:r>
          </a:p>
        </p:txBody>
      </p:sp>
      <p:sp>
        <p:nvSpPr>
          <p:cNvPr id="202" name="TextBox 203"/>
          <p:cNvSpPr txBox="1"/>
          <p:nvPr/>
        </p:nvSpPr>
        <p:spPr>
          <a:xfrm>
            <a:off x="8293100" y="5143500"/>
            <a:ext cx="1778000" cy="1016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0.955</a:t>
            </a:r>
          </a:p>
          <a:p>
            <a:pPr algn="ctr"/>
            <a:r>
              <a:rPr lang="en-US" sz="12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heavy-rain AUC (GNN)</a:t>
            </a:r>
          </a:p>
        </p:txBody>
      </p:sp>
      <p:sp>
        <p:nvSpPr>
          <p:cNvPr id="203" name="TextBox 204"/>
          <p:cNvSpPr txBox="1"/>
          <p:nvPr/>
        </p:nvSpPr>
        <p:spPr>
          <a:xfrm>
            <a:off x="10109200" y="5143500"/>
            <a:ext cx="1778000" cy="1016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n-US" sz="26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98%</a:t>
            </a:r>
          </a:p>
          <a:p>
            <a:pPr algn="ctr"/>
            <a:r>
              <a:rPr lang="en-US" sz="12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peak rain kept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BA9714-DC22-E141-C9D5-64DA5A016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1371600"/>
            <a:ext cx="5435600" cy="307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65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6400" y="1168400"/>
            <a:ext cx="3810000" cy="4839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Technologies used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Language: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Python 3.11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AI / ML: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PyTorch –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mesh GNN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(scatter-op message passing) and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conditional U-Net diffusion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(DDPM / DDIM)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Data: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xarray + Dask; NetCDF, GRIB2 (cfgrib), Zarr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Inputs: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ECMWF ENS 50 members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(NEPS-G ready); ERA5 1990–2019 climate via WeatherBench 2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Serving: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FastAPI + Uvicorn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REST alerts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Map: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Leaflet (Folium) dashboard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Hardware: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laptop CPU,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no GPU needed</a:t>
            </a:r>
          </a:p>
          <a:p>
            <a:pPr marL="342900" indent="-342900">
              <a:spcBef>
                <a:spcPts val="18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Outputs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Tracks: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4D anomaly boxes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+ ensemble cyclone plume</a:t>
            </a:r>
          </a:p>
          <a:p>
            <a:pPr marL="342900" indent="0">
              <a:spcBef>
                <a:spcPts val="5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API: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/alerts/core, /point, /zones, /tracks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Stealth Choppers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" name="TextBox 200"/>
          <p:cNvSpPr txBox="1"/>
          <p:nvPr/>
        </p:nvSpPr>
        <p:spPr>
          <a:xfrm>
            <a:off x="4381500" y="1168400"/>
            <a:ext cx="7493000" cy="381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Methodology and process for implementation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4381500" y="5054600"/>
            <a:ext cx="7493000" cy="1143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342900" indent="0">
              <a:spcBef>
                <a:spcPts val="2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Stage 1: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EFI, Shift of Tails and P(&gt;q99) per grid point →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GNN on icosahedral multi-mesh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(6 layers, ±24 h context) → P(observed extreme)</a:t>
            </a:r>
          </a:p>
          <a:p>
            <a:pPr marL="342900" indent="0">
              <a:spcBef>
                <a:spcPts val="2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Stage 2: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12 × 12 degree crop around the core →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30-step DDIM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with water-conservation and moisture-convergence loss →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5 km alert lattice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BE1125-4EE7-DF7C-7F3A-E18338780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549400"/>
            <a:ext cx="6858000" cy="332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6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40500" y="1168400"/>
            <a:ext cx="5334000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Working prototype: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one command runs the full pipeline on real Amphan data in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~1 min on a laptop CPU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Cheap to retrain: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~5 min for Stage 1, 30–60 min for Stage 2,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no GPU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Plug-in ready: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loader maps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NEPS-G, NCUM, ECMWF and IMDAA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files to one layout</a:t>
            </a:r>
          </a:p>
          <a:p>
            <a:pPr marL="342900" indent="-342900">
              <a:spcBef>
                <a:spcPts val="14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Challenges and strategies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No open 5 km truth for India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→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code trains on any coarse/fine pair, e.g.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NEPS-G 12 km with IMDAA-R 4 km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Small training set (6 cases)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→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scale up with the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NCMRWF archive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; heat skill (AUC 0.84) needs more heatwaves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No internet at venue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→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fully offline synthetic mode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with identical file formats</a:t>
            </a:r>
          </a:p>
          <a:p>
            <a:pPr marL="342900" indent="-342900">
              <a:spcBef>
                <a:spcPts val="14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Viability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Skill on a held-out cyclone: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AUC 0.955 rain, 0.952 wind</a:t>
            </a:r>
          </a:p>
          <a:p>
            <a:pPr marL="342900" indent="0">
              <a:spcBef>
                <a:spcPts val="6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Easy to operate: </a:t>
            </a:r>
            <a:r>
              <a:rPr lang="en-US" sz="14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REST service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that runs after each ensemble cycle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Stealth Choppers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2E8635-CD57-9E9D-1BAD-8EEF4E19D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193800"/>
            <a:ext cx="5740400" cy="332759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6AAC00-12AD-40DC-B8B2-70DFE25F9F24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4699000"/>
          <a:ext cx="5969000" cy="111760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178691390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4654348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5824911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82599689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Downscaling method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0"/>
                    <a:lnB w="12700">
                      <a:solidFill>
                        <a:srgbClr val="7F7F7F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Peak kept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0"/>
                    <a:lnB w="12700">
                      <a:solidFill>
                        <a:srgbClr val="7F7F7F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99th pct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0"/>
                    <a:lnB w="12700">
                      <a:solidFill>
                        <a:srgbClr val="7F7F7F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Water error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0"/>
                    <a:lnB w="12700">
                      <a:solidFill>
                        <a:srgbClr val="7F7F7F"/>
                      </a:solidFill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2794013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Bilinear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41%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63%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22%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23706052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MSE U-Net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84%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91%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11%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50268534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Physics-informed diffusion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98%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97%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4%</a:t>
                      </a:r>
                    </a:p>
                  </a:txBody>
                  <a:tcPr marL="63500" marR="63500" marT="25400" marB="25400" anchor="ctr">
                    <a:lnL w="0"/>
                    <a:lnR w="0"/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9D9"/>
                      </a:solidFill>
                    </a:lnB>
                    <a:lnTlToBr w="0"/>
                    <a:lnBlToTr w="0"/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26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28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8000" y="3048000"/>
            <a:ext cx="5461000" cy="2846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342900" indent="0">
              <a:spcBef>
                <a:spcPts val="1400"/>
              </a:spcBef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Forecasters (IMD, NCMRWF): </a:t>
            </a:r>
            <a:r>
              <a:rPr lang="en-US" sz="16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one tracked, calibrated view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of extremes instead of scanning 50 members by hand</a:t>
            </a:r>
          </a:p>
          <a:p>
            <a:pPr marL="342900" indent="0">
              <a:spcBef>
                <a:spcPts val="1400"/>
              </a:spcBef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Disaster managers (NDMA, SDMAs): </a:t>
            </a:r>
            <a:r>
              <a:rPr lang="en-US" sz="16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4D tracks days ahead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to pre-position teams and plan evacuations</a:t>
            </a:r>
          </a:p>
          <a:p>
            <a:pPr marL="342900" indent="0">
              <a:spcBef>
                <a:spcPts val="1400"/>
              </a:spcBef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District officials and citizens: </a:t>
            </a:r>
            <a:r>
              <a:rPr lang="en-US" sz="16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point alerts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for a town or village, e.g. Kolkata at Amphan landfall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Stealth Choppers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" name="Stat 200"/>
          <p:cNvSpPr/>
          <p:nvPr/>
        </p:nvSpPr>
        <p:spPr>
          <a:xfrm>
            <a:off x="508000" y="1397000"/>
            <a:ext cx="2603500" cy="12065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  <p:txBody>
          <a:bodyPr wrap="square" lIns="114300" tIns="45720" rIns="114300" bIns="45720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5.5 days</a:t>
            </a:r>
          </a:p>
          <a:p>
            <a:pPr algn="ctr"/>
            <a:r>
              <a:rPr lang="en-US" sz="1400" dirty="0">
                <a:solidFill>
                  <a:srgbClr val="262626"/>
                </a:solidFill>
                <a:latin typeface="Arial" pitchFamily="34" charset="0"/>
                <a:cs typeface="Arial" pitchFamily="34" charset="0"/>
              </a:rPr>
              <a:t>early warning, Amphan</a:t>
            </a:r>
          </a:p>
        </p:txBody>
      </p:sp>
      <p:sp>
        <p:nvSpPr>
          <p:cNvPr id="201" name="Stat 201"/>
          <p:cNvSpPr/>
          <p:nvPr/>
        </p:nvSpPr>
        <p:spPr>
          <a:xfrm>
            <a:off x="3365500" y="1397000"/>
            <a:ext cx="2603500" cy="12065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  <p:txBody>
          <a:bodyPr wrap="square" lIns="114300" tIns="45720" rIns="114300" bIns="45720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 km</a:t>
            </a:r>
          </a:p>
          <a:p>
            <a:pPr algn="ctr"/>
            <a:r>
              <a:rPr lang="en-US" sz="1400" dirty="0">
                <a:solidFill>
                  <a:srgbClr val="262626"/>
                </a:solidFill>
                <a:latin typeface="Arial" pitchFamily="34" charset="0"/>
                <a:cs typeface="Arial" pitchFamily="34" charset="0"/>
              </a:rPr>
              <a:t>alert resolution</a:t>
            </a:r>
          </a:p>
        </p:txBody>
      </p:sp>
      <p:sp>
        <p:nvSpPr>
          <p:cNvPr id="202" name="Stat 202"/>
          <p:cNvSpPr/>
          <p:nvPr/>
        </p:nvSpPr>
        <p:spPr>
          <a:xfrm>
            <a:off x="6223000" y="1397000"/>
            <a:ext cx="2603500" cy="12065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  <p:txBody>
          <a:bodyPr wrap="square" lIns="114300" tIns="45720" rIns="114300" bIns="45720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 hazards</a:t>
            </a:r>
          </a:p>
          <a:p>
            <a:pPr algn="ctr"/>
            <a:r>
              <a:rPr lang="en-US" sz="1400" dirty="0">
                <a:solidFill>
                  <a:srgbClr val="262626"/>
                </a:solidFill>
                <a:latin typeface="Arial" pitchFamily="34" charset="0"/>
                <a:cs typeface="Arial" pitchFamily="34" charset="0"/>
              </a:rPr>
              <a:t>rain, wind and heat</a:t>
            </a:r>
          </a:p>
        </p:txBody>
      </p:sp>
      <p:sp>
        <p:nvSpPr>
          <p:cNvPr id="203" name="Stat 203"/>
          <p:cNvSpPr/>
          <p:nvPr/>
        </p:nvSpPr>
        <p:spPr>
          <a:xfrm>
            <a:off x="9080500" y="1397000"/>
            <a:ext cx="2603500" cy="12065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</p:spPr>
        <p:txBody>
          <a:bodyPr wrap="square" lIns="114300" tIns="45720" rIns="114300" bIns="45720" anchor="ctr">
            <a:no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~1 min</a:t>
            </a:r>
          </a:p>
          <a:p>
            <a:pPr algn="ctr"/>
            <a:r>
              <a:rPr lang="en-US" sz="1400" dirty="0">
                <a:solidFill>
                  <a:srgbClr val="262626"/>
                </a:solidFill>
                <a:latin typeface="Arial" pitchFamily="34" charset="0"/>
                <a:cs typeface="Arial" pitchFamily="34" charset="0"/>
              </a:rPr>
              <a:t>full run on a laptop CPU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6223000" y="3048000"/>
            <a:ext cx="5461000" cy="34925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342900" indent="0">
              <a:spcBef>
                <a:spcPts val="1400"/>
              </a:spcBef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Social: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earlier, </a:t>
            </a:r>
            <a:r>
              <a:rPr lang="en-US" sz="16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location-specific warnings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for coastal and flood-prone communities</a:t>
            </a:r>
          </a:p>
          <a:p>
            <a:pPr marL="342900" indent="0">
              <a:spcBef>
                <a:spcPts val="1400"/>
              </a:spcBef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Economic: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lead time to protect crops, fishing fleets and property; runs on existing CPUs with </a:t>
            </a:r>
            <a:r>
              <a:rPr lang="en-US" sz="16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no GPU cost</a:t>
            </a:r>
          </a:p>
          <a:p>
            <a:pPr marL="342900" indent="0">
              <a:spcBef>
                <a:spcPts val="1400"/>
              </a:spcBef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Environmental: </a:t>
            </a:r>
            <a:r>
              <a:rPr lang="en-US" sz="1600" b="1" dirty="0">
                <a:solidFill>
                  <a:srgbClr val="006FBF"/>
                </a:solidFill>
                <a:latin typeface="Arial" pitchFamily="34" charset="0"/>
                <a:cs typeface="Arial" pitchFamily="34" charset="0"/>
              </a:rPr>
              <a:t>far less compute and energy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than re-running high-resolution NWP; supports climate-resilience planning</a:t>
            </a:r>
          </a:p>
        </p:txBody>
      </p:sp>
    </p:spTree>
    <p:extLst>
      <p:ext uri="{BB962C8B-B14F-4D97-AF65-F5344CB8AC3E}">
        <p14:creationId xmlns:p14="http://schemas.microsoft.com/office/powerpoint/2010/main" val="280945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8000" y="1168400"/>
            <a:ext cx="5651500" cy="4598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Extreme forecast indices and data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Lalaurette, F. (2003).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Early detection of abnormal weather conditions using a probabilistic extreme forecast index. QJRMS 129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Zsótér, E. (2006).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Recent developments in extreme weather forecasting (EFI and Shift of Tails). ECMWF Newsletter 107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Hersbach, H. et al. (2020).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The ERA5 global reanalysis. QJRMS 146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Rasp, S. et al. (2024).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WeatherBench 2: a benchmark for data-driven global weather models. JAMES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Rani, S. I. et al. (2021).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IMDAA: high-resolution regional reanalysis for India. BAMS</a:t>
            </a:r>
          </a:p>
          <a:p>
            <a:pPr marL="342900" indent="-342900">
              <a:spcBef>
                <a:spcPts val="12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Graph neural networks on meshes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Lam, R. et al. (2023).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Learning skillful medium-range global weather forecasting (GraphCast). Science 382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Battaglia, P. et al. (2018).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Relational inductive biases, deep learning and graph networks. arXiv:1806.01261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Stealth Choppers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" name="TextBox 200"/>
          <p:cNvSpPr txBox="1"/>
          <p:nvPr/>
        </p:nvSpPr>
        <p:spPr>
          <a:xfrm>
            <a:off x="6286500" y="1168400"/>
            <a:ext cx="5588000" cy="5080000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Diffusion models and downscaling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Ho, J. et al. (2020).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Denoising diffusion probabilistic models. NeurIPS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Song, J. et al. (2021).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Denoising diffusion implicit models (DDIM). ICLR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Salimans, T. &amp; Ho, J. (2022).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Progressive distillation for fast sampling of diffusion models (v-prediction). ICLR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Mardani, M. et al. (2025).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Residual corrective diffusion modeling for km-scale atmospheric downscaling (CorrDiff). Commun. Earth Environ.</a:t>
            </a:r>
          </a:p>
          <a:p>
            <a:pPr marL="342900" indent="-342900">
              <a:spcBef>
                <a:spcPts val="1200"/>
              </a:spcBef>
              <a:buClr>
                <a:srgbClr val="000000"/>
              </a:buClr>
              <a:buFont typeface="Wingdings" pitchFamily="2" charset="2"/>
              <a:buChar char="ü"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Operational context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IMD (2020).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Super cyclonic storm Amphan over the southeast Bay of Bengal: preliminary report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NCMRWF.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NEPS-G global ensemble prediction system documentation</a:t>
            </a:r>
          </a:p>
          <a:p>
            <a:pPr marL="342900" indent="0">
              <a:spcBef>
                <a:spcPts val="700"/>
              </a:spcBef>
              <a:buNone/>
            </a:pPr>
            <a:r>
              <a:rPr lang="en-US" sz="1400" b="1" dirty="0">
                <a:latin typeface="Arial" pitchFamily="34" charset="0"/>
                <a:cs typeface="Arial" pitchFamily="34" charset="0"/>
              </a:rPr>
              <a:t>Holland, G. J. (1980).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An analytic model of the wind and pressure profiles in hurricanes. Mon. Wea. Rev. 108</a:t>
            </a:r>
          </a:p>
        </p:txBody>
      </p:sp>
    </p:spTree>
    <p:extLst>
      <p:ext uri="{BB962C8B-B14F-4D97-AF65-F5344CB8AC3E}">
        <p14:creationId xmlns:p14="http://schemas.microsoft.com/office/powerpoint/2010/main" val="354922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178DF5-78AB-4396-93DF-8FFA8754E1B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8cb511c-af08-41ab-9105-ef9d341ac6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7846</TotalTime>
  <Words>1200</Words>
  <Application>Microsoft Office PowerPoint</Application>
  <PresentationFormat>Widescreen</PresentationFormat>
  <Paragraphs>135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AI-Driven Spatio-Temporal Tracking of Extreme Weather Anomalies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Om Gawande</cp:lastModifiedBy>
  <cp:revision>149</cp:revision>
  <dcterms:created xsi:type="dcterms:W3CDTF">2013-12-12T18:46:50Z</dcterms:created>
  <dcterms:modified xsi:type="dcterms:W3CDTF">2026-09-28T15:51:37Z</dcterms:modified>
  <cp:category/>
</cp:coreProperties>
</file>